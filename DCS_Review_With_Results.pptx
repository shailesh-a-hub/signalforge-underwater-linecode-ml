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56" r:id="rId3"/>
    <p:sldId id="257" r:id="rId4"/>
    <p:sldId id="258" r:id="rId5"/>
    <p:sldId id="259" r:id="rId6"/>
    <p:sldId id="260" r:id="rId7"/>
    <p:sldId id="273" r:id="rId8"/>
    <p:sldId id="275" r:id="rId9"/>
    <p:sldId id="261" r:id="rId10"/>
    <p:sldId id="270" r:id="rId11"/>
    <p:sldId id="271" r:id="rId12"/>
    <p:sldId id="276" r:id="rId13"/>
    <p:sldId id="277" r:id="rId14"/>
    <p:sldId id="278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72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sh a" userId="43c82f3c7150fcad" providerId="LiveId" clId="{9E4A3FBD-179F-45D1-B6F9-47A518B5881E}"/>
    <pc:docChg chg="undo custSel modSld">
      <pc:chgData name="shailesh a" userId="43c82f3c7150fcad" providerId="LiveId" clId="{9E4A3FBD-179F-45D1-B6F9-47A518B5881E}" dt="2026-10-24T16:04:52.812" v="88" actId="1076"/>
      <pc:docMkLst>
        <pc:docMk/>
      </pc:docMkLst>
      <pc:sldChg chg="modSp mod">
        <pc:chgData name="shailesh a" userId="43c82f3c7150fcad" providerId="LiveId" clId="{9E4A3FBD-179F-45D1-B6F9-47A518B5881E}" dt="2026-10-13T10:46:14.104" v="20" actId="20577"/>
        <pc:sldMkLst>
          <pc:docMk/>
          <pc:sldMk cId="2040167387" sldId="260"/>
        </pc:sldMkLst>
        <pc:graphicFrameChg chg="modGraphic">
          <ac:chgData name="shailesh a" userId="43c82f3c7150fcad" providerId="LiveId" clId="{9E4A3FBD-179F-45D1-B6F9-47A518B5881E}" dt="2026-10-13T10:46:14.104" v="20" actId="20577"/>
          <ac:graphicFrameMkLst>
            <pc:docMk/>
            <pc:sldMk cId="2040167387" sldId="260"/>
            <ac:graphicFrameMk id="11" creationId="{31895638-11FA-2F71-4693-DA8FFDF7A1D1}"/>
          </ac:graphicFrameMkLst>
        </pc:graphicFrameChg>
      </pc:sldChg>
      <pc:sldChg chg="modSp mod">
        <pc:chgData name="shailesh a" userId="43c82f3c7150fcad" providerId="LiveId" clId="{9E4A3FBD-179F-45D1-B6F9-47A518B5881E}" dt="2026-10-13T11:51:33.814" v="62" actId="20577"/>
        <pc:sldMkLst>
          <pc:docMk/>
          <pc:sldMk cId="863512997" sldId="271"/>
        </pc:sldMkLst>
        <pc:spChg chg="mod">
          <ac:chgData name="shailesh a" userId="43c82f3c7150fcad" providerId="LiveId" clId="{9E4A3FBD-179F-45D1-B6F9-47A518B5881E}" dt="2026-10-13T11:51:33.814" v="62" actId="20577"/>
          <ac:spMkLst>
            <pc:docMk/>
            <pc:sldMk cId="863512997" sldId="271"/>
            <ac:spMk id="3" creationId="{CDAA4A1D-F378-6F86-12F2-AA989679F5E7}"/>
          </ac:spMkLst>
        </pc:spChg>
      </pc:sldChg>
      <pc:sldChg chg="modSp mod">
        <pc:chgData name="shailesh a" userId="43c82f3c7150fcad" providerId="LiveId" clId="{9E4A3FBD-179F-45D1-B6F9-47A518B5881E}" dt="2026-10-24T16:00:29.766" v="74" actId="1076"/>
        <pc:sldMkLst>
          <pc:docMk/>
          <pc:sldMk cId="0" sldId="277"/>
        </pc:sldMkLst>
        <pc:picChg chg="mod">
          <ac:chgData name="shailesh a" userId="43c82f3c7150fcad" providerId="LiveId" clId="{9E4A3FBD-179F-45D1-B6F9-47A518B5881E}" dt="2026-10-24T16:00:26.329" v="73" actId="1076"/>
          <ac:picMkLst>
            <pc:docMk/>
            <pc:sldMk cId="0" sldId="277"/>
            <ac:picMk id="4" creationId="{00000000-0000-0000-0000-000000000000}"/>
          </ac:picMkLst>
        </pc:picChg>
        <pc:picChg chg="mod">
          <ac:chgData name="shailesh a" userId="43c82f3c7150fcad" providerId="LiveId" clId="{9E4A3FBD-179F-45D1-B6F9-47A518B5881E}" dt="2026-10-24T16:00:29.766" v="74" actId="1076"/>
          <ac:picMkLst>
            <pc:docMk/>
            <pc:sldMk cId="0" sldId="277"/>
            <ac:picMk id="5" creationId="{00000000-0000-0000-0000-000000000000}"/>
          </ac:picMkLst>
        </pc:picChg>
      </pc:sldChg>
      <pc:sldChg chg="addSp delSp modSp mod">
        <pc:chgData name="shailesh a" userId="43c82f3c7150fcad" providerId="LiveId" clId="{9E4A3FBD-179F-45D1-B6F9-47A518B5881E}" dt="2026-10-24T16:04:52.812" v="88" actId="1076"/>
        <pc:sldMkLst>
          <pc:docMk/>
          <pc:sldMk cId="0" sldId="278"/>
        </pc:sldMkLst>
        <pc:picChg chg="del mod">
          <ac:chgData name="shailesh a" userId="43c82f3c7150fcad" providerId="LiveId" clId="{9E4A3FBD-179F-45D1-B6F9-47A518B5881E}" dt="2026-10-24T16:03:31.623" v="75" actId="478"/>
          <ac:picMkLst>
            <pc:docMk/>
            <pc:sldMk cId="0" sldId="278"/>
            <ac:picMk id="4" creationId="{00000000-0000-0000-0000-000000000000}"/>
          </ac:picMkLst>
        </pc:picChg>
        <pc:picChg chg="add del mod">
          <ac:chgData name="shailesh a" userId="43c82f3c7150fcad" providerId="LiveId" clId="{9E4A3FBD-179F-45D1-B6F9-47A518B5881E}" dt="2026-10-24T16:04:01.357" v="80" actId="478"/>
          <ac:picMkLst>
            <pc:docMk/>
            <pc:sldMk cId="0" sldId="278"/>
            <ac:picMk id="6" creationId="{994F1B05-F619-75E4-0E3A-05FA85D8DE4B}"/>
          </ac:picMkLst>
        </pc:picChg>
        <pc:picChg chg="add del mod">
          <ac:chgData name="shailesh a" userId="43c82f3c7150fcad" providerId="LiveId" clId="{9E4A3FBD-179F-45D1-B6F9-47A518B5881E}" dt="2026-10-24T16:04:01.357" v="80" actId="478"/>
          <ac:picMkLst>
            <pc:docMk/>
            <pc:sldMk cId="0" sldId="278"/>
            <ac:picMk id="8" creationId="{28DDFC79-ED6E-9713-01DE-5AC7E32EB92B}"/>
          </ac:picMkLst>
        </pc:picChg>
        <pc:picChg chg="add mod">
          <ac:chgData name="shailesh a" userId="43c82f3c7150fcad" providerId="LiveId" clId="{9E4A3FBD-179F-45D1-B6F9-47A518B5881E}" dt="2026-10-24T16:04:50.185" v="87" actId="1076"/>
          <ac:picMkLst>
            <pc:docMk/>
            <pc:sldMk cId="0" sldId="278"/>
            <ac:picMk id="10" creationId="{31FB3BBD-0861-9CC9-9E6D-0CB6BBBFD24D}"/>
          </ac:picMkLst>
        </pc:picChg>
        <pc:picChg chg="add mod">
          <ac:chgData name="shailesh a" userId="43c82f3c7150fcad" providerId="LiveId" clId="{9E4A3FBD-179F-45D1-B6F9-47A518B5881E}" dt="2026-10-24T16:04:52.812" v="88" actId="1076"/>
          <ac:picMkLst>
            <pc:docMk/>
            <pc:sldMk cId="0" sldId="278"/>
            <ac:picMk id="12" creationId="{A8479531-6329-0B44-0BAE-E026AEFFE025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4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91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41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33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87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4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0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86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44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87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1451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857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0341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555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78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034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40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500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01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576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40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03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646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3096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26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664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41987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88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90329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5580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3685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260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99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1BCA8-8608-4815-8FD4-FA55B07ED29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9D04780-FCD7-4E6C-8A5B-3C67457F26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81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24CD-287E-ADD7-ADBE-2AE9E8DF7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496" y="1299412"/>
            <a:ext cx="8915399" cy="2804202"/>
          </a:xfrm>
        </p:spPr>
        <p:txBody>
          <a:bodyPr>
            <a:noAutofit/>
          </a:bodyPr>
          <a:lstStyle/>
          <a:p>
            <a:pPr algn="ctr"/>
            <a:r>
              <a:rPr lang="en-IN" sz="3500" b="1" dirty="0"/>
              <a:t>A REAL-TIME ADAPTIVE DIGITAL COMMUNICATION SYSTEM FOR INTELLIGENT LINE-CODE SELECTION UNDER SIMULATED UNDERWATER ACOUSTIC CHANNEL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01321-683E-5448-8E7A-A694F8C90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0335" y="4640600"/>
            <a:ext cx="4159046" cy="1747747"/>
          </a:xfrm>
        </p:spPr>
        <p:txBody>
          <a:bodyPr>
            <a:normAutofit/>
          </a:bodyPr>
          <a:lstStyle/>
          <a:p>
            <a:r>
              <a:rPr lang="en-IN" i="1" dirty="0" err="1"/>
              <a:t>Ekanshi</a:t>
            </a:r>
            <a:r>
              <a:rPr lang="en-IN" i="1" dirty="0"/>
              <a:t> Yadav 24BEC0655</a:t>
            </a:r>
          </a:p>
          <a:p>
            <a:r>
              <a:rPr lang="en-IN" i="1" dirty="0"/>
              <a:t>Shailesh A 24BEC0665</a:t>
            </a:r>
          </a:p>
          <a:p>
            <a:r>
              <a:rPr lang="en-IN" i="1" dirty="0"/>
              <a:t>Sheshadri Muthusamy 24BEC0250</a:t>
            </a:r>
          </a:p>
          <a:p>
            <a:pPr algn="r"/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830048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1B51-8E1F-61A0-98F0-B3428060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221" y="624110"/>
            <a:ext cx="9515391" cy="1280890"/>
          </a:xfrm>
        </p:spPr>
        <p:txBody>
          <a:bodyPr/>
          <a:lstStyle/>
          <a:p>
            <a:r>
              <a:rPr lang="en-IN" b="1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E437-BD56-9BE6-DC40-686DEFD94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0188"/>
            <a:ext cx="8915400" cy="53178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The problem is not just transmitting data. It is transmitting data reliably when channel conditions change.</a:t>
            </a:r>
          </a:p>
          <a:p>
            <a:pPr lvl="0"/>
            <a:r>
              <a:rPr lang="en-IN" sz="2400" dirty="0"/>
              <a:t>Underwater acoustic communication faces noise, signal attenuation, multipath propagation, and time-varying channel conditions.</a:t>
            </a:r>
          </a:p>
          <a:p>
            <a:pPr lvl="0"/>
            <a:r>
              <a:rPr lang="en-IN" sz="2400" dirty="0"/>
              <a:t>A fixed line-coding scheme cannot necessarily deliver the best performance across every operating condition.</a:t>
            </a:r>
          </a:p>
          <a:p>
            <a:pPr lvl="0"/>
            <a:r>
              <a:rPr lang="en-IN" sz="2400" dirty="0"/>
              <a:t>Different line codes have different bandwidth, spectral, and synchronization characteristics.</a:t>
            </a:r>
          </a:p>
          <a:p>
            <a:pPr lvl="0"/>
            <a:r>
              <a:rPr lang="en-IN" sz="2400" dirty="0"/>
              <a:t>Selecting an appropriate scheme requires evaluating both the channel and the communication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007443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6665-50DF-DB3E-68BC-2164F9FD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624110"/>
            <a:ext cx="5566610" cy="1280890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E167B-E2D3-1638-B0B3-BC9CEEC55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284" y="1620252"/>
            <a:ext cx="10102515" cy="4973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A software-based communication framework that evaluates multiple line codes and selects a suitable scheme for simulated underwater conditions.</a:t>
            </a:r>
          </a:p>
          <a:p>
            <a:r>
              <a:rPr lang="en-IN" sz="2200" dirty="0"/>
              <a:t>The framework combines four core functions:</a:t>
            </a:r>
          </a:p>
          <a:p>
            <a:pPr lvl="0"/>
            <a:r>
              <a:rPr lang="en-IN" sz="2200" b="1" dirty="0"/>
              <a:t>Encode</a:t>
            </a:r>
            <a:r>
              <a:rPr lang="en-IN" sz="2200" dirty="0"/>
              <a:t>: Generate digital waveforms using NRZ-L, RZ, Manchester, and AMI.</a:t>
            </a:r>
          </a:p>
          <a:p>
            <a:pPr lvl="0"/>
            <a:r>
              <a:rPr lang="en-IN" sz="2200" b="1" dirty="0"/>
              <a:t>Simulate</a:t>
            </a:r>
            <a:r>
              <a:rPr lang="en-IN" sz="2200" dirty="0"/>
              <a:t>: Introduce configurable channel impairments.</a:t>
            </a:r>
          </a:p>
          <a:p>
            <a:pPr lvl="0"/>
            <a:r>
              <a:rPr lang="en-IN" sz="2200" b="1" dirty="0"/>
              <a:t>Evaluate</a:t>
            </a:r>
            <a:r>
              <a:rPr lang="en-IN" sz="2200" dirty="0"/>
              <a:t>: Analyse BER, PSD, bandwidth, and synchronization characteristics.</a:t>
            </a:r>
          </a:p>
          <a:p>
            <a:pPr lvl="0"/>
            <a:r>
              <a:rPr lang="en-IN" sz="2200" b="1" dirty="0"/>
              <a:t>Adapt</a:t>
            </a:r>
            <a:r>
              <a:rPr lang="en-IN" sz="2200" dirty="0"/>
              <a:t>: Apply a decision rule to choose a suitable line code.</a:t>
            </a:r>
          </a:p>
          <a:p>
            <a:r>
              <a:rPr lang="en-IN" sz="2200" dirty="0"/>
              <a:t>The project brings together fundamental digital communication concepts in a unified, testable framework.</a:t>
            </a:r>
          </a:p>
        </p:txBody>
      </p:sp>
    </p:spTree>
    <p:extLst>
      <p:ext uri="{BB962C8B-B14F-4D97-AF65-F5344CB8AC3E}">
        <p14:creationId xmlns:p14="http://schemas.microsoft.com/office/powerpoint/2010/main" val="357786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DA540-BA92-F52C-DC02-F3BC4509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88" y="592026"/>
            <a:ext cx="9726361" cy="1280890"/>
          </a:xfrm>
        </p:spPr>
        <p:txBody>
          <a:bodyPr>
            <a:normAutofit/>
          </a:bodyPr>
          <a:lstStyle/>
          <a:p>
            <a:r>
              <a:rPr lang="en-IN" sz="4000" b="1" dirty="0"/>
              <a:t>LITERATURE REVIEW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E6A1222-F5A4-6B45-2FD7-2437336EF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118315"/>
              </p:ext>
            </p:extLst>
          </p:nvPr>
        </p:nvGraphicFramePr>
        <p:xfrm>
          <a:off x="0" y="1395662"/>
          <a:ext cx="12192000" cy="5462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085">
                  <a:extLst>
                    <a:ext uri="{9D8B030D-6E8A-4147-A177-3AD203B41FA5}">
                      <a16:colId xmlns:a16="http://schemas.microsoft.com/office/drawing/2014/main" val="2491625594"/>
                    </a:ext>
                  </a:extLst>
                </a:gridCol>
                <a:gridCol w="2903061">
                  <a:extLst>
                    <a:ext uri="{9D8B030D-6E8A-4147-A177-3AD203B41FA5}">
                      <a16:colId xmlns:a16="http://schemas.microsoft.com/office/drawing/2014/main" val="935222860"/>
                    </a:ext>
                  </a:extLst>
                </a:gridCol>
                <a:gridCol w="2973016">
                  <a:extLst>
                    <a:ext uri="{9D8B030D-6E8A-4147-A177-3AD203B41FA5}">
                      <a16:colId xmlns:a16="http://schemas.microsoft.com/office/drawing/2014/main" val="3683197748"/>
                    </a:ext>
                  </a:extLst>
                </a:gridCol>
                <a:gridCol w="2920550">
                  <a:extLst>
                    <a:ext uri="{9D8B030D-6E8A-4147-A177-3AD203B41FA5}">
                      <a16:colId xmlns:a16="http://schemas.microsoft.com/office/drawing/2014/main" val="1451961427"/>
                    </a:ext>
                  </a:extLst>
                </a:gridCol>
                <a:gridCol w="2668288">
                  <a:extLst>
                    <a:ext uri="{9D8B030D-6E8A-4147-A177-3AD203B41FA5}">
                      <a16:colId xmlns:a16="http://schemas.microsoft.com/office/drawing/2014/main" val="2329820665"/>
                    </a:ext>
                  </a:extLst>
                </a:gridCol>
              </a:tblGrid>
              <a:tr h="721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 name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research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 to SignalForge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5636"/>
                  </a:ext>
                </a:extLst>
              </a:tr>
              <a:tr h="2267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Reinforcement Learning-Based Automated Modulation Switching Algorithm for an Enhanced Underwater Acoustic Communication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Uses reinforcement learning to switch between FH-BFSK, ASK, PSK and OFDM based on communication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Provides a reference for intelligent, automatic signal-scheme selection under simulated or varying underwater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Focuses on modulation switching rather than direct selection among line codes such as NRZ, RZ, Manchester and AMI.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865909"/>
                  </a:ext>
                </a:extLst>
              </a:tr>
              <a:tr h="2472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 Optimal Adaptive Coding and Modulation Mode Selection Method Based on Machine Learning for Underwater Acoustic Communication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Uses a random forest classifier and channel quality indicators (SNR, pilot BER, channel impulse response) to select a transmission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Supports the use of machine learning to select a suitable transmission configuration based on channel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Does not specifically investigate adaptive line-code selection across different underwater channel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1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02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1895638-11FA-2F71-4693-DA8FFDF7A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427286"/>
              </p:ext>
            </p:extLst>
          </p:nvPr>
        </p:nvGraphicFramePr>
        <p:xfrm>
          <a:off x="1" y="-2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197">
                  <a:extLst>
                    <a:ext uri="{9D8B030D-6E8A-4147-A177-3AD203B41FA5}">
                      <a16:colId xmlns:a16="http://schemas.microsoft.com/office/drawing/2014/main" val="2896544111"/>
                    </a:ext>
                  </a:extLst>
                </a:gridCol>
                <a:gridCol w="2889377">
                  <a:extLst>
                    <a:ext uri="{9D8B030D-6E8A-4147-A177-3AD203B41FA5}">
                      <a16:colId xmlns:a16="http://schemas.microsoft.com/office/drawing/2014/main" val="3258945246"/>
                    </a:ext>
                  </a:extLst>
                </a:gridCol>
                <a:gridCol w="2899138">
                  <a:extLst>
                    <a:ext uri="{9D8B030D-6E8A-4147-A177-3AD203B41FA5}">
                      <a16:colId xmlns:a16="http://schemas.microsoft.com/office/drawing/2014/main" val="4239869650"/>
                    </a:ext>
                  </a:extLst>
                </a:gridCol>
                <a:gridCol w="2635581">
                  <a:extLst>
                    <a:ext uri="{9D8B030D-6E8A-4147-A177-3AD203B41FA5}">
                      <a16:colId xmlns:a16="http://schemas.microsoft.com/office/drawing/2014/main" val="918823466"/>
                    </a:ext>
                  </a:extLst>
                </a:gridCol>
                <a:gridCol w="2957707">
                  <a:extLst>
                    <a:ext uri="{9D8B030D-6E8A-4147-A177-3AD203B41FA5}">
                      <a16:colId xmlns:a16="http://schemas.microsoft.com/office/drawing/2014/main" val="2690053448"/>
                    </a:ext>
                  </a:extLst>
                </a:gridCol>
              </a:tblGrid>
              <a:tr h="657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 name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research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 to SignalForge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90602"/>
                  </a:ext>
                </a:extLst>
              </a:tr>
              <a:tr h="1894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Adaptive Modulation and Coding for Underwater Acoustic OTFS Communications Based on Meta-Learning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Studies adaptive modulation and coding for underwater acoustic OTFS communications using meta-learning.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• Provides ideas for adapting transmission schemes to rapidly changing underwater channels.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• Focuses on OTFS modulation and coding, not a comparative software framework for conventional line codes.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034834"/>
                  </a:ext>
                </a:extLst>
              </a:tr>
              <a:tr h="2153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 State-of-the-Art Survey and Benchmarking of Adaptive Modulation and Coding for Underwater Acoustic Communications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Reviews and benchmarks conventional, machine-learning and reinforcement-learning approaches to adaptive modulation and coding.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Helps identify suitable algorithms, evaluation metrics and comparison methods for </a:t>
                      </a:r>
                      <a:r>
                        <a:rPr lang="en-IN" sz="1700" dirty="0" err="1"/>
                        <a:t>SignalForge</a:t>
                      </a:r>
                      <a:r>
                        <a:rPr lang="en-IN" sz="17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• Addresses adaptive modulation and coding broadly; dedicated evaluation of NRZ, RZ, Manchester and AMI selection is not its primary focus.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571121"/>
                  </a:ext>
                </a:extLst>
              </a:tr>
              <a:tr h="2153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Adaptive Switching for Communication Profiles in Underwater Acoustic Modems Based on Reinforcement Learning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Uses deep reinforcement learning to switch communication profiles according to channel conditions, targeting energy and spectral efficiency.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Provides background for developing an adaptive decision-making algorithm that responds to channel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• Focuses on communication profiles rather than conventional line-code selection.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69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16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06F5-A967-4C42-1492-CD41BD0D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9" y="624110"/>
            <a:ext cx="9756023" cy="1280890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CB9C2-E5B2-00F9-D9D2-ACA1D5066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1572126"/>
            <a:ext cx="10108949" cy="4661764"/>
          </a:xfrm>
        </p:spPr>
        <p:txBody>
          <a:bodyPr>
            <a:normAutofit/>
          </a:bodyPr>
          <a:lstStyle/>
          <a:p>
            <a:r>
              <a:rPr lang="en-IN" sz="2100" dirty="0"/>
              <a:t>A fixed line-coding scheme is generally chosen in advance, even though its spectral and synchronization characteristics may not suit every communication scenario.</a:t>
            </a:r>
          </a:p>
          <a:p>
            <a:r>
              <a:rPr lang="en-IN" sz="2100" dirty="0"/>
              <a:t>In simulated underwater acoustic environments, channel impairments can further affect the received signal and the ability to recover transmitted bits.</a:t>
            </a:r>
          </a:p>
          <a:p>
            <a:r>
              <a:rPr lang="en-IN" sz="2100" b="1" dirty="0"/>
              <a:t>The challenge</a:t>
            </a:r>
            <a:r>
              <a:rPr lang="en-IN" sz="2100" dirty="0"/>
              <a:t>: How can a communication framework systematically evaluate competing line codes and select one that best meets the requirements of a changing channel?</a:t>
            </a:r>
          </a:p>
          <a:p>
            <a:r>
              <a:rPr lang="en-IN" sz="2100" b="1" dirty="0"/>
              <a:t>Our proposed solution</a:t>
            </a:r>
            <a:r>
              <a:rPr lang="en-IN" sz="2100" dirty="0"/>
              <a:t>: A software-based adaptive framework that combines channel-condition inputs, line-code performance measurements, and a predefined selection algorithm.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37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A281-7B64-146C-C31A-F313AAB7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02768"/>
            <a:ext cx="8911687" cy="1280890"/>
          </a:xfrm>
        </p:spPr>
        <p:txBody>
          <a:bodyPr/>
          <a:lstStyle/>
          <a:p>
            <a:r>
              <a:rPr lang="en-IN" b="1" dirty="0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BC3C6-ACD1-1213-6491-D8D8F473C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354" y="1088922"/>
            <a:ext cx="10212388" cy="37043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Generate a binary input sequence.</a:t>
            </a:r>
          </a:p>
          <a:p>
            <a:pPr lvl="0"/>
            <a:r>
              <a:rPr lang="en-IN" dirty="0"/>
              <a:t>Encode the data using NRZ-L, RZ, Manchester, and AMI.</a:t>
            </a:r>
          </a:p>
          <a:p>
            <a:pPr lvl="0"/>
            <a:r>
              <a:rPr lang="en-IN" dirty="0"/>
              <a:t>Pass the encoded signals through simulated underwater channel conditions.</a:t>
            </a:r>
          </a:p>
          <a:p>
            <a:pPr lvl="0"/>
            <a:r>
              <a:rPr lang="en-IN" dirty="0"/>
              <a:t>Decode the received signals and evaluate BER, PSD, bandwidth, and synchronization.</a:t>
            </a:r>
          </a:p>
          <a:p>
            <a:pPr lvl="0"/>
            <a:r>
              <a:rPr lang="en-IN" dirty="0"/>
              <a:t>Apply a predefined decision algorithm to select the most suitable line code.</a:t>
            </a:r>
          </a:p>
          <a:p>
            <a:pPr lvl="0"/>
            <a:r>
              <a:rPr lang="en-IN" dirty="0"/>
              <a:t>Compare its performance against fixed line-coding schemes and reassess when channel conditions change.</a:t>
            </a:r>
          </a:p>
          <a:p>
            <a:r>
              <a:rPr lang="en-IN" b="1" dirty="0"/>
              <a:t>Expected outcome:</a:t>
            </a:r>
            <a:r>
              <a:rPr lang="en-IN" dirty="0"/>
              <a:t> A channel-aware framework for evaluating and selecting suitable line-coding schemes.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9206D3-97CB-FC1A-8B6E-D90920161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354" y="4419600"/>
            <a:ext cx="997078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8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08AF-4263-F58C-59EB-82524182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988" y="608068"/>
            <a:ext cx="10058400" cy="78759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RESEARCH OBJECTIVES</a:t>
            </a:r>
            <a:r>
              <a:rPr lang="en-IN" dirty="0"/>
              <a:t>: What We Aim to Achieve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0C031-E74A-1506-9AE0-FA1870372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033" y="1299411"/>
            <a:ext cx="10324741" cy="46457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01. Implement multiple line codes</a:t>
            </a:r>
          </a:p>
          <a:p>
            <a:r>
              <a:rPr lang="en-IN" dirty="0"/>
              <a:t>Generate and analyse NRZ-L, RZ, Manchester, and AMI using a common input sequence.</a:t>
            </a:r>
          </a:p>
          <a:p>
            <a:pPr marL="0" indent="0">
              <a:buNone/>
            </a:pPr>
            <a:r>
              <a:rPr lang="en-IN" b="1" dirty="0"/>
              <a:t>02. Model channel conditions</a:t>
            </a:r>
          </a:p>
          <a:p>
            <a:r>
              <a:rPr lang="en-IN" dirty="0"/>
              <a:t>Simulate configurable noise and attenuation, with additional impairments where supported.</a:t>
            </a:r>
          </a:p>
          <a:p>
            <a:pPr marL="0" indent="0">
              <a:buNone/>
            </a:pPr>
            <a:r>
              <a:rPr lang="en-IN" b="1" dirty="0"/>
              <a:t>03. Quantify communication performance</a:t>
            </a:r>
          </a:p>
          <a:p>
            <a:r>
              <a:rPr lang="en-IN" dirty="0"/>
              <a:t>Compare BER, PSD, bandwidth requirements, and synchronization characteristics.</a:t>
            </a:r>
          </a:p>
          <a:p>
            <a:pPr marL="0" indent="0">
              <a:buNone/>
            </a:pPr>
            <a:r>
              <a:rPr lang="en-IN" b="1" dirty="0"/>
              <a:t>04. Develop adaptive selection logic</a:t>
            </a:r>
          </a:p>
          <a:p>
            <a:r>
              <a:rPr lang="en-IN" dirty="0"/>
              <a:t>Select a suitable line code according to defined channel and performance criteria.</a:t>
            </a:r>
          </a:p>
          <a:p>
            <a:pPr marL="0" indent="0">
              <a:buNone/>
            </a:pPr>
            <a:r>
              <a:rPr lang="en-IN" b="1" dirty="0"/>
              <a:t>05. Validate against a fixed baseline</a:t>
            </a:r>
          </a:p>
          <a:p>
            <a:r>
              <a:rPr lang="en-IN" dirty="0"/>
              <a:t>Test whether the adaptive approach offers a measurable advantage </a:t>
            </a:r>
            <a:r>
              <a:rPr lang="en-IN" sz="2100" dirty="0"/>
              <a:t>under identical conditions.</a:t>
            </a:r>
          </a:p>
        </p:txBody>
      </p:sp>
    </p:spTree>
    <p:extLst>
      <p:ext uri="{BB962C8B-B14F-4D97-AF65-F5344CB8AC3E}">
        <p14:creationId xmlns:p14="http://schemas.microsoft.com/office/powerpoint/2010/main" val="22282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F7FF-F278-5AE0-FAA1-8F74D63F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11" y="624111"/>
            <a:ext cx="10509131" cy="1280890"/>
          </a:xfrm>
        </p:spPr>
        <p:txBody>
          <a:bodyPr/>
          <a:lstStyle/>
          <a:p>
            <a:r>
              <a:rPr lang="en-IN" sz="3200" b="1" dirty="0"/>
              <a:t>NOVELTY</a:t>
            </a:r>
            <a:r>
              <a:rPr lang="en-IN" dirty="0"/>
              <a:t>: </a:t>
            </a:r>
            <a:r>
              <a:rPr lang="en-IN" sz="3200" dirty="0"/>
              <a:t>What Makes Our Approach Different?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EE002-6070-3498-B538-C3A8681AA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874" y="1386348"/>
            <a:ext cx="10028738" cy="4847541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/>
              <a:t>Unified analysis</a:t>
            </a:r>
          </a:p>
          <a:p>
            <a:pPr marL="0" indent="0">
              <a:buNone/>
            </a:pPr>
            <a:r>
              <a:rPr lang="en-IN" sz="2000" dirty="0"/>
              <a:t>Evaluates multiple line codes using both time-domain waveforms and frequency-domain PSD characteristics.</a:t>
            </a:r>
          </a:p>
          <a:p>
            <a:r>
              <a:rPr lang="en-IN" sz="2000" b="1" dirty="0"/>
              <a:t>Channel-aware selection</a:t>
            </a:r>
          </a:p>
          <a:p>
            <a:pPr marL="0" indent="0">
              <a:buNone/>
            </a:pPr>
            <a:r>
              <a:rPr lang="en-IN" sz="2000" dirty="0"/>
              <a:t>Connects simulated channel conditions and measured performance to an explicit coding-scheme selection rule.</a:t>
            </a:r>
          </a:p>
          <a:p>
            <a:r>
              <a:rPr lang="en-IN" sz="2000" b="1" dirty="0"/>
              <a:t>Multi-criteria evaluation</a:t>
            </a:r>
          </a:p>
          <a:p>
            <a:pPr marL="0" indent="0">
              <a:buNone/>
            </a:pPr>
            <a:r>
              <a:rPr lang="en-IN" sz="2000" dirty="0"/>
              <a:t>Considers BER alongside bandwidth, spectral characteristics, and synchronization rather than relying on a single metric.</a:t>
            </a:r>
          </a:p>
          <a:p>
            <a:r>
              <a:rPr lang="en-IN" sz="2000" b="1" dirty="0"/>
              <a:t>Measurable validation</a:t>
            </a:r>
          </a:p>
          <a:p>
            <a:pPr marL="0" indent="0">
              <a:buNone/>
            </a:pPr>
            <a:r>
              <a:rPr lang="en-IN" sz="2000" dirty="0"/>
              <a:t>Compares adaptive selection with fixed line coding under equivalent simulation conditions.</a:t>
            </a:r>
          </a:p>
          <a:p>
            <a:pPr marL="0" indent="0">
              <a:buNone/>
            </a:pPr>
            <a:r>
              <a:rPr lang="en-IN" sz="2000" dirty="0"/>
              <a:t>We don’t simply compare line codes, but investigating how performance measurements can guide their selection in a simulated underwater communication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301636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B692-AAF1-0634-25EF-5EF1523B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674" y="624110"/>
            <a:ext cx="9723939" cy="1280890"/>
          </a:xfrm>
        </p:spPr>
        <p:txBody>
          <a:bodyPr/>
          <a:lstStyle/>
          <a:p>
            <a:r>
              <a:rPr lang="en-IN" b="1" dirty="0"/>
              <a:t>EXPECTED OUTCOMES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4A1D-F378-6F86-12F2-AA989679F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1475874"/>
            <a:ext cx="10638339" cy="373781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/>
              <a:t>Expected outcomes</a:t>
            </a:r>
          </a:p>
          <a:p>
            <a:pPr lvl="0"/>
            <a:r>
              <a:rPr lang="en-IN" sz="7200" dirty="0"/>
              <a:t>A software/ML model framework for generating and analysing multiple digital line codes.</a:t>
            </a:r>
          </a:p>
          <a:p>
            <a:pPr lvl="0"/>
            <a:r>
              <a:rPr lang="en-IN" sz="7200" dirty="0"/>
              <a:t>Comparative waveform and PSD visualisations.</a:t>
            </a:r>
          </a:p>
          <a:p>
            <a:pPr lvl="0"/>
            <a:r>
              <a:rPr lang="en-IN" sz="7200" dirty="0"/>
              <a:t>Performance measurements across different simulated channel conditions.</a:t>
            </a:r>
          </a:p>
          <a:p>
            <a:pPr lvl="0"/>
            <a:r>
              <a:rPr lang="en-IN" sz="7200" dirty="0"/>
              <a:t>An adaptive selection mechanism with clearly defined decision criteria.</a:t>
            </a:r>
          </a:p>
          <a:p>
            <a:pPr lvl="0"/>
            <a:r>
              <a:rPr lang="en-IN" sz="7200" dirty="0"/>
              <a:t>A baseline comparison to quantify the benefits and limitations of adaptive selection.</a:t>
            </a:r>
          </a:p>
          <a:p>
            <a:pPr marL="0" lv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IN" sz="7200" b="1" dirty="0"/>
              <a:t>Future scope</a:t>
            </a:r>
          </a:p>
          <a:p>
            <a:pPr lvl="0"/>
            <a:r>
              <a:rPr lang="en-IN" sz="7200" dirty="0"/>
              <a:t>More realistic underwater acoustic channel modelling.</a:t>
            </a:r>
          </a:p>
          <a:p>
            <a:pPr lvl="0"/>
            <a:r>
              <a:rPr lang="en-IN" sz="7200" dirty="0"/>
              <a:t>Evaluation under multipath and Doppler effects.</a:t>
            </a:r>
          </a:p>
          <a:p>
            <a:pPr lvl="0"/>
            <a:r>
              <a:rPr lang="en-IN" sz="7200" dirty="0"/>
              <a:t>Automated decision-rule optimisation.</a:t>
            </a:r>
          </a:p>
          <a:p>
            <a:pPr lvl="0"/>
            <a:r>
              <a:rPr lang="en-IN" sz="7200" dirty="0"/>
              <a:t>Integration with a complete communication link and, eventually, experimental validation.</a:t>
            </a:r>
          </a:p>
          <a:p>
            <a:pPr marL="0" lvl="0" indent="0">
              <a:buNone/>
            </a:pPr>
            <a:endParaRPr lang="en-IN" sz="7200" dirty="0"/>
          </a:p>
          <a:p>
            <a:pPr marL="0" lvl="0" indent="0">
              <a:buNone/>
            </a:pPr>
            <a:r>
              <a:rPr lang="en-IN" sz="7200" dirty="0"/>
              <a:t>We plan to build a communication framework that responds to channel conditions rather than relying entirely on a predetermined coding choice.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51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4248" y="621792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SYSTEM IMPLEMENTATION: DUAL-ENGINE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50876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Dual-Engine Hybrid Workflow: </a:t>
            </a:r>
            <a:r>
              <a:rPr sz="1100">
                <a:solidFill>
                  <a:srgbClr val="374151"/>
                </a:solidFill>
              </a:rPr>
              <a:t>Decouples real-time line-code adaptation from slow brute-force physical search.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1. Physics Simulation Engine (Ground Truth): </a:t>
            </a:r>
            <a:r>
              <a:rPr sz="1100">
                <a:solidFill>
                  <a:srgbClr val="374151"/>
                </a:solidFill>
              </a:rPr>
              <a:t>Implements 6 candidate line codes (NRZ-L, NRZ-I, RZ, Manchester, AMI, Diff-Man). Convolves waveforms with Thorp acoustic path loss, 3-path multipath reflections, and Doppler phase drift. Physically decodes bits to measure genuine BER.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2. Machine Learning Brain (Sub-Millisecond): </a:t>
            </a:r>
            <a:r>
              <a:rPr sz="1100">
                <a:solidFill>
                  <a:srgbClr val="374151"/>
                </a:solidFill>
              </a:rPr>
              <a:t>9-dimensional k-NN classifier [SNR, multipath, Doppler, distance, 5 one-hot priorities]. Replaces 80-200 ms physical search with 0.2 ms to 0.5 ms inference (~360x speedup). Outputs 6-class posterior probability distribution.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Dual Decision Objectives: </a:t>
            </a:r>
            <a:r>
              <a:rPr sz="1100">
                <a:solidFill>
                  <a:srgbClr val="374151"/>
                </a:solidFill>
              </a:rPr>
              <a:t>Supports both Multi-Attribute SAW Utility (balances BER, bandwidth, DC &amp; sync) and Oracle Minimum-BER.</a:t>
            </a:r>
          </a:p>
        </p:txBody>
      </p:sp>
      <p:pic>
        <p:nvPicPr>
          <p:cNvPr id="4" name="Picture 3" descr="dual_engin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45920"/>
            <a:ext cx="6217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4248" y="621792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EXPERIMENTAL VALIDATION: BER, SPECTRUM &amp; DC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41732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• Noise Resilience (Exp 1): </a:t>
            </a:r>
            <a:r>
              <a:rPr sz="1100">
                <a:solidFill>
                  <a:srgbClr val="374151"/>
                </a:solidFill>
              </a:rPr>
              <a:t>At high SNR (&gt; 15 dB), all 6 schemes achieve zero bit errors. Under severe noise (&lt; 5 dB) and multipath, Manchester and Differential Manchester maintain superior threshold decoding due to guaranteed mid-bit transitions.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• DC Balance &amp; Transformer Coupling (Exp 5): </a:t>
            </a:r>
            <a:r>
              <a:rPr sz="1100">
                <a:solidFill>
                  <a:srgbClr val="374151"/>
                </a:solidFill>
              </a:rPr>
              <a:t>AMI achieves strictly 0.000 DC component, completely eliminating DC offset drift across acoustic hydrophone transformers.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• Spectral vs. Clock Recovery Trade-Off (Exp 4 &amp; 6): </a:t>
            </a:r>
            <a:r>
              <a:rPr sz="1100">
                <a:solidFill>
                  <a:srgbClr val="374151"/>
                </a:solidFill>
              </a:rPr>
              <a:t>NRZ-L and AMI occupy 24 kHz (narrow spectrum) but risk clock slip during long runs. Manchester requires 48 kHz but guarantees 1.0 transition/bit for continuous clock recovery without auxiliary pilot tones.</a:t>
            </a:r>
          </a:p>
        </p:txBody>
      </p:sp>
      <p:pic>
        <p:nvPicPr>
          <p:cNvPr id="4" name="Picture 3" descr="final_exp1_ber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457" y="3285128"/>
            <a:ext cx="4264543" cy="2468946"/>
          </a:xfrm>
          <a:prstGeom prst="rect">
            <a:avLst/>
          </a:prstGeom>
        </p:spPr>
      </p:pic>
      <p:pic>
        <p:nvPicPr>
          <p:cNvPr id="5" name="Picture 4" descr="final_exp456_proper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429000"/>
            <a:ext cx="4846320" cy="20754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4248" y="621792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SYSTEM DEMONSTRATION: STANDALONE WEB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50876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Zero-Dependency Standalone GUI: </a:t>
            </a:r>
            <a:r>
              <a:rPr sz="1100">
                <a:solidFill>
                  <a:srgbClr val="374151"/>
                </a:solidFill>
              </a:rPr>
              <a:t>Executes in any web browser (dashboard/index.html) without MATLAB installation, licensing keys, or cloud timeouts.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Real-Time Interactive Controls: </a:t>
            </a:r>
            <a:r>
              <a:rPr sz="1100">
                <a:solidFill>
                  <a:srgbClr val="374151"/>
                </a:solidFill>
              </a:rPr>
              <a:t>Live sliders for SNR (-5 to 30 dB), Multipath (0 to 1), Doppler (0 to 4 m/s), Distance (50 to 1000 m), and 5 Priority modes.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Live Model Outputs: </a:t>
            </a:r>
            <a:r>
              <a:rPr sz="1100">
                <a:solidFill>
                  <a:srgbClr val="374151"/>
                </a:solidFill>
              </a:rPr>
              <a:t>Displays predicted line code, complete 6-class posterior probability vector, measured BER, occupied bandwidth, and measured inference latency (0.2 ms to 0.5 ms).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Synchronized Waveform Canvas: </a:t>
            </a:r>
            <a:r>
              <a:rPr sz="1100">
                <a:solidFill>
                  <a:srgbClr val="374151"/>
                </a:solidFill>
              </a:rPr>
              <a:t>High-DPI canvas visualizing TX digital pulses, corrupted RX analog acoustic signal with multipath/Doppler, and decoded bits with automated error markers.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D47A1"/>
                </a:solidFill>
              </a:rPr>
              <a:t>100% MATLAB Reproducibility: </a:t>
            </a:r>
            <a:r>
              <a:rPr sz="1100">
                <a:solidFill>
                  <a:srgbClr val="374151"/>
                </a:solidFill>
              </a:rPr>
              <a:t>Dynamically writes self-contained MATLAB scripts with one-click copy and .m download matching current slider inputs.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FB3BBD-0861-9CC9-9E6D-0CB6BBBFD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675" y="984425"/>
            <a:ext cx="5945316" cy="3136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479531-6329-0B44-0BAE-E026AEFFE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675" y="4205756"/>
            <a:ext cx="5945316" cy="2530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7E66-92E8-9A11-DE27-8FC75F76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071" y="2788555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01703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1390</TotalTime>
  <Words>1505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1_Wisp</vt:lpstr>
      <vt:lpstr>A REAL-TIME ADAPTIVE DIGITAL COMMUNICATION SYSTEM FOR INTELLIGENT LINE-CODE SELECTION UNDER SIMULATED UNDERWATER ACOUSTIC CHANNEL CONDITIONS</vt:lpstr>
      <vt:lpstr>MOTIVATION</vt:lpstr>
      <vt:lpstr>INTRODUCTION</vt:lpstr>
      <vt:lpstr>LITERATURE REVIEW</vt:lpstr>
      <vt:lpstr>PowerPoint Presentation</vt:lpstr>
      <vt:lpstr>PROBLEM STATEMENT</vt:lpstr>
      <vt:lpstr>FRAMEWORK</vt:lpstr>
      <vt:lpstr>RESEARCH OBJECTIVES: What We Aim to Achieve</vt:lpstr>
      <vt:lpstr>NOVELTY: What Makes Our Approach Different?</vt:lpstr>
      <vt:lpstr>EXPECTED OUTCOMES &amp; FUTURE SCOPE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EKANSHI YADAV</dc:creator>
  <cp:lastModifiedBy>shailesh a</cp:lastModifiedBy>
  <cp:revision>6</cp:revision>
  <dcterms:created xsi:type="dcterms:W3CDTF">2025-08-13T15:25:11Z</dcterms:created>
  <dcterms:modified xsi:type="dcterms:W3CDTF">2026-10-24T16:04:59Z</dcterms:modified>
</cp:coreProperties>
</file>